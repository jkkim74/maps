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828800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Malgun Gothic"/>
              </a:defRPr>
            </a:pPr>
            <a:r>
              <a:t>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789920" cy="9144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3400" b="1">
                <a:solidFill>
                  <a:srgbClr val="EBF2FB"/>
                </a:solidFill>
                <a:latin typeface="Malgun Gothic"/>
              </a:defRPr>
            </a:pPr>
            <a:r>
              <a:t>종목 분석에서 자동매수까지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788920"/>
            <a:ext cx="8686800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800" b="0">
                <a:solidFill>
                  <a:srgbClr val="97A6BB"/>
                </a:solidFill>
                <a:latin typeface="Malgun Gothic"/>
              </a:defRPr>
            </a:pPr>
            <a:r>
              <a:t>MAPS 종목 분석–전략매매 화면설계서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3767328"/>
            <a:ext cx="10835640" cy="1417320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069080"/>
            <a:ext cx="246888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HTML 프로토타입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050791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800" b="1">
                <a:solidFill>
                  <a:srgbClr val="97A6BB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4069080"/>
            <a:ext cx="23317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Malgun Gothic"/>
              </a:defRPr>
            </a:pPr>
            <a:r>
              <a:t>U/S 역할 주석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050791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800" b="1">
                <a:solidFill>
                  <a:srgbClr val="97A6BB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069080"/>
            <a:ext cx="292608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EBF2FB"/>
                </a:solidFill>
                <a:latin typeface="Malgun Gothic"/>
              </a:defRPr>
            </a:pPr>
            <a:r>
              <a:t>18장 화면설계서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6172200"/>
            <a:ext cx="7315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Malgun Gothic"/>
              </a:defRPr>
            </a:pPr>
            <a:r>
              <a:t>화면설계용 예시 데이터 · 실제 MAPS API 및 주문 호출 없음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9728"/>
            <a:ext cx="685800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화면설계서 읽는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84632"/>
            <a:ext cx="676656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파란색 U는 사용자, 초록색 S는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40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  <a:latin typeface="Malgun Gothic"/>
              </a:defRPr>
            </a:pPr>
            <a:r>
              <a:t>예시 데이터 · 실제 주문 없음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5303520" cy="4343400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640080" cy="64008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81328"/>
            <a:ext cx="3108960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100" b="1">
                <a:solidFill>
                  <a:srgbClr val="EBF2FB"/>
                </a:solidFill>
                <a:latin typeface="Malgun Gothic"/>
              </a:defRPr>
            </a:pPr>
            <a:r>
              <a:t>사용자가 하는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4389120" cy="1737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400" b="0">
                <a:solidFill>
                  <a:srgbClr val="97A6BB"/>
                </a:solidFill>
                <a:latin typeface="Malgun Gothic"/>
              </a:defRPr>
            </a:pPr>
            <a:r>
              <a:t>직접 선택 · 입력 · 검토 · 최종 승인</a:t>
            </a:r>
            <a:br/>
            <a:br/>
            <a:r>
              <a:t>화면의 파란색 U 번호와 오른쪽 설명이 연결됩니다.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097280"/>
            <a:ext cx="5303520" cy="4343400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481328"/>
            <a:ext cx="640080" cy="6400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1481328"/>
            <a:ext cx="3337560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100" b="1">
                <a:solidFill>
                  <a:srgbClr val="EBF2FB"/>
                </a:solidFill>
                <a:latin typeface="Malgun Gothic"/>
              </a:defRPr>
            </a:pPr>
            <a:r>
              <a:t>시스템이 해주는 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423160"/>
            <a:ext cx="4389120" cy="1737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400" b="0">
                <a:solidFill>
                  <a:srgbClr val="97A6BB"/>
                </a:solidFill>
                <a:latin typeface="Malgun Gothic"/>
              </a:defRPr>
            </a:pPr>
            <a:r>
              <a:t>자동 조회 · 계산 · 검증 · 저장 · 감시</a:t>
            </a:r>
            <a:br/>
            <a:br/>
            <a:r>
              <a:t>화면의 초록색 S 번호와 오른쪽 설명이 연결됩니다.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1069848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300" b="1">
                <a:solidFill>
                  <a:srgbClr val="EBF2FB"/>
                </a:solidFill>
                <a:latin typeface="Malgun Gothic"/>
              </a:defRPr>
            </a:pPr>
            <a:r>
              <a:t>각 화면에서 누가 무엇을 하는지 같은 번호로 연결합니다.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9728"/>
            <a:ext cx="685800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전체 사용자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84632"/>
            <a:ext cx="676656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분석부터 자동청산까지의 역할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40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  <a:latin typeface="Malgun Gothic"/>
              </a:defRPr>
            </a:pPr>
            <a:r>
              <a:t>예시 데이터 · 실제 주문 없음</a:t>
            </a:r>
          </a:p>
        </p:txBody>
      </p:sp>
      <p:pic>
        <p:nvPicPr>
          <p:cNvPr id="6" name="Picture 5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04672"/>
            <a:ext cx="7882127" cy="51937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9601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069848"/>
            <a:ext cx="384048" cy="3474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0515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사용자가 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4173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종목을 분석하고 매매 방식을 선택한다.</a:t>
            </a:r>
            <a:br/>
            <a:r>
              <a:t>2. 가격·금액·위험을 확인해 실행한다.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2670048"/>
            <a:ext cx="384048" cy="34747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6517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시스템이 해주는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0175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AI 전략과 안전한도를 계산한다.</a:t>
            </a:r>
            <a:br/>
            <a:r>
              <a:t>2. ARMED 저장 후 현재가와 주문을 감시한다.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010912"/>
            <a:ext cx="3767328" cy="987552"/>
          </a:xfrm>
          <a:prstGeom prst="roundRect">
            <a:avLst/>
          </a:prstGeom>
          <a:solidFill>
            <a:srgbClr val="0C1727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102352"/>
            <a:ext cx="10972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Malgun Gothic"/>
              </a:defRPr>
            </a:pPr>
            <a:r>
              <a:t>처리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5367528"/>
            <a:ext cx="3401568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EBF2FB"/>
                </a:solidFill>
                <a:latin typeface="Malgun Gothic"/>
              </a:defRPr>
            </a:pPr>
            <a:r>
              <a:t>분석 → 설정 → 무장 → 순차매수 → 전체청산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617220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입력 → 시스템 처리 → 결과 상태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9728"/>
            <a:ext cx="685800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AS-IS와 TO-BE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84632"/>
            <a:ext cx="676656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수동 복사 흐름을 구조화 전략으로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40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  <a:latin typeface="Malgun Gothic"/>
              </a:defRPr>
            </a:pPr>
            <a:r>
              <a:t>예시 데이터 · 실제 주문 없음</a:t>
            </a:r>
          </a:p>
        </p:txBody>
      </p:sp>
      <p:pic>
        <p:nvPicPr>
          <p:cNvPr id="6" name="Picture 5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04672"/>
            <a:ext cx="7882127" cy="51937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9601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069848"/>
            <a:ext cx="384048" cy="3474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0515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사용자가 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4173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기존에는 AI 문장을 보고 값을 다시 입력했다.</a:t>
            </a:r>
            <a:br/>
            <a:r>
              <a:t>2. 새 화면에서는 제안값을 검토하고 승인한다.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2670048"/>
            <a:ext cx="384048" cy="34747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6517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시스템이 해주는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0175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AI 숫자전략을 검증해 매매 설정에 자동 입력한다.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010912"/>
            <a:ext cx="3767328" cy="987552"/>
          </a:xfrm>
          <a:prstGeom prst="roundRect">
            <a:avLst/>
          </a:prstGeom>
          <a:solidFill>
            <a:srgbClr val="0C1727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102352"/>
            <a:ext cx="10972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Malgun Gothic"/>
              </a:defRPr>
            </a:pPr>
            <a:r>
              <a:t>처리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5367528"/>
            <a:ext cx="3401568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EBF2FB"/>
                </a:solidFill>
                <a:latin typeface="Malgun Gothic"/>
              </a:defRPr>
            </a:pPr>
            <a:r>
              <a:t>분석 근거와 워치 전략이 하나의 흐름으로 이어집니다.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617220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입력 → 시스템 처리 → 결과 상태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9728"/>
            <a:ext cx="685800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종목 검색과 분석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84632"/>
            <a:ext cx="676656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사용자가 종목을 정하고 시스템이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40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  <a:latin typeface="Malgun Gothic"/>
              </a:defRPr>
            </a:pPr>
            <a:r>
              <a:t>예시 데이터 · 실제 주문 없음</a:t>
            </a:r>
          </a:p>
        </p:txBody>
      </p:sp>
      <p:pic>
        <p:nvPicPr>
          <p:cNvPr id="6" name="Picture 5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04672"/>
            <a:ext cx="7882127" cy="51937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9601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069848"/>
            <a:ext cx="384048" cy="3474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0515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사용자가 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4173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종목명 또는 코드를 입력한다.</a:t>
            </a:r>
            <a:br/>
            <a:r>
              <a:t>2. 분석 실행을 누른다.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2670048"/>
            <a:ext cx="384048" cy="34747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6517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시스템이 해주는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0175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종목을 확인하고 기술·재무·AI 분석을 수행한다.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010912"/>
            <a:ext cx="3767328" cy="987552"/>
          </a:xfrm>
          <a:prstGeom prst="roundRect">
            <a:avLst/>
          </a:prstGeom>
          <a:solidFill>
            <a:srgbClr val="0C1727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102352"/>
            <a:ext cx="10972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Malgun Gothic"/>
              </a:defRPr>
            </a:pPr>
            <a:r>
              <a:t>처리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5367528"/>
            <a:ext cx="3401568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EBF2FB"/>
                </a:solidFill>
                <a:latin typeface="Malgun Gothic"/>
              </a:defRPr>
            </a:pPr>
            <a:r>
              <a:t>분석 결과 화면으로 이동합니다.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617220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입력 → 시스템 처리 → 결과 상태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9728"/>
            <a:ext cx="685800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분석 결과와 AI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84632"/>
            <a:ext cx="676656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설명과 주문용 숫자를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40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  <a:latin typeface="Malgun Gothic"/>
              </a:defRPr>
            </a:pPr>
            <a:r>
              <a:t>예시 데이터 · 실제 주문 없음</a:t>
            </a:r>
          </a:p>
        </p:txBody>
      </p:sp>
      <p:pic>
        <p:nvPicPr>
          <p:cNvPr id="6" name="Picture 5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04672"/>
            <a:ext cx="7882127" cy="51937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9601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069848"/>
            <a:ext cx="384048" cy="3474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0515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사용자가 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4173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분석과 BUY 의견을 검토한다.</a:t>
            </a:r>
            <a:br/>
            <a:r>
              <a:t>2. 매매 설정을 누른다.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2670048"/>
            <a:ext cx="384048" cy="34747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6517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시스템이 해주는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0175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3개 진입가와 목표·손절을 구조화해 검증한다.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010912"/>
            <a:ext cx="3767328" cy="987552"/>
          </a:xfrm>
          <a:prstGeom prst="roundRect">
            <a:avLst/>
          </a:prstGeom>
          <a:solidFill>
            <a:srgbClr val="0C1727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102352"/>
            <a:ext cx="10972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Malgun Gothic"/>
              </a:defRPr>
            </a:pPr>
            <a:r>
              <a:t>처리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5367528"/>
            <a:ext cx="3401568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EBF2FB"/>
                </a:solidFill>
                <a:latin typeface="Malgun Gothic"/>
              </a:defRPr>
            </a:pPr>
            <a:r>
              <a:t>BUY이면 자동값을 제공하고 매매 설정으로 이동합니다.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617220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입력 → 시스템 처리 → 결과 상태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9728"/>
            <a:ext cx="685800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AI 실패·관망 시 수동 전환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84632"/>
            <a:ext cx="676656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AI 의견을 자동주문으로 강제하지 않음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40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  <a:latin typeface="Malgun Gothic"/>
              </a:defRPr>
            </a:pPr>
            <a:r>
              <a:t>예시 데이터 · 실제 주문 없음</a:t>
            </a:r>
          </a:p>
        </p:txBody>
      </p:sp>
      <p:pic>
        <p:nvPicPr>
          <p:cNvPr id="6" name="Picture 5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04672"/>
            <a:ext cx="7882127" cy="51937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9601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069848"/>
            <a:ext cx="384048" cy="3474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0515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사용자가 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4173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경고를 확인하고 수동입력 여부를 결정한다.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2670048"/>
            <a:ext cx="384048" cy="34747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6517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시스템이 해주는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0175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자동값을 비우고 수동값에도 같은 검증을 적용한다.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010912"/>
            <a:ext cx="3767328" cy="987552"/>
          </a:xfrm>
          <a:prstGeom prst="roundRect">
            <a:avLst/>
          </a:prstGeom>
          <a:solidFill>
            <a:srgbClr val="0C1727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102352"/>
            <a:ext cx="10972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Malgun Gothic"/>
              </a:defRPr>
            </a:pPr>
            <a:r>
              <a:t>처리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5367528"/>
            <a:ext cx="3401568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EBF2FB"/>
                </a:solidFill>
                <a:latin typeface="Malgun Gothic"/>
              </a:defRPr>
            </a:pPr>
            <a:r>
              <a:t>AI 실패나 WATCH가 자동매수로 연결되지 않습니다.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617220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입력 → 시스템 처리 → 결과 상태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9728"/>
            <a:ext cx="685800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매매 방식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84632"/>
            <a:ext cx="676656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단일 또는 3분할을 명시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40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  <a:latin typeface="Malgun Gothic"/>
              </a:defRPr>
            </a:pPr>
            <a:r>
              <a:t>예시 데이터 · 실제 주문 없음</a:t>
            </a:r>
          </a:p>
        </p:txBody>
      </p:sp>
      <p:pic>
        <p:nvPicPr>
          <p:cNvPr id="6" name="Picture 5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04672"/>
            <a:ext cx="7882127" cy="51937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9601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069848"/>
            <a:ext cx="384048" cy="3474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0515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사용자가 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4173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단일매매 또는 3분할매매를 선택한다.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2670048"/>
            <a:ext cx="384048" cy="34747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6517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시스템이 해주는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0175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선택 전 실행을 막고 모드별 입력폼을 준비한다.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010912"/>
            <a:ext cx="3767328" cy="987552"/>
          </a:xfrm>
          <a:prstGeom prst="roundRect">
            <a:avLst/>
          </a:prstGeom>
          <a:solidFill>
            <a:srgbClr val="0C1727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102352"/>
            <a:ext cx="10972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Malgun Gothic"/>
              </a:defRPr>
            </a:pPr>
            <a:r>
              <a:t>처리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5367528"/>
            <a:ext cx="3401568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EBF2FB"/>
                </a:solidFill>
                <a:latin typeface="Malgun Gothic"/>
              </a:defRPr>
            </a:pPr>
            <a:r>
              <a:t>단일은 1회, 분할은 30/30/40의 3회 계획입니다.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617220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입력 → 시스템 처리 → 결과 상태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9728"/>
            <a:ext cx="685800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단일매매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84632"/>
            <a:ext cx="676656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한 번의 진입 가격과 수량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40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  <a:latin typeface="Malgun Gothic"/>
              </a:defRPr>
            </a:pPr>
            <a:r>
              <a:t>예시 데이터 · 실제 주문 없음</a:t>
            </a:r>
          </a:p>
        </p:txBody>
      </p:sp>
      <p:pic>
        <p:nvPicPr>
          <p:cNvPr id="6" name="Picture 5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04672"/>
            <a:ext cx="7882127" cy="51937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9601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069848"/>
            <a:ext cx="384048" cy="3474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0515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사용자가 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4173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금액·진입·목표·손절을 확인한다.</a:t>
            </a:r>
            <a:br/>
            <a:r>
              <a:t>2. 필요하면 총액을 감액한다.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2670048"/>
            <a:ext cx="384048" cy="34747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6517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시스템이 해주는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0175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안전한도와 정수주 수량을 계산한다.</a:t>
            </a:r>
            <a:br/>
            <a:r>
              <a:t>2. 가격과 손익비를 검증한다.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010912"/>
            <a:ext cx="3767328" cy="987552"/>
          </a:xfrm>
          <a:prstGeom prst="roundRect">
            <a:avLst/>
          </a:prstGeom>
          <a:solidFill>
            <a:srgbClr val="0C1727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102352"/>
            <a:ext cx="10972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Malgun Gothic"/>
              </a:defRPr>
            </a:pPr>
            <a:r>
              <a:t>처리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5367528"/>
            <a:ext cx="3401568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EBF2FB"/>
                </a:solidFill>
                <a:latin typeface="Malgun Gothic"/>
              </a:defRPr>
            </a:pPr>
            <a:r>
              <a:t>검증된 단일 회차가 최종 확인으로 전달됩니다.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617220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입력 → 시스템 처리 → 결과 상태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9728"/>
            <a:ext cx="685800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3분할매매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84632"/>
            <a:ext cx="676656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회차별 가격과 30/30/40 배분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40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  <a:latin typeface="Malgun Gothic"/>
              </a:defRPr>
            </a:pPr>
            <a:r>
              <a:t>예시 데이터 · 실제 주문 없음</a:t>
            </a:r>
          </a:p>
        </p:txBody>
      </p:sp>
      <p:pic>
        <p:nvPicPr>
          <p:cNvPr id="6" name="Picture 5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04672"/>
            <a:ext cx="7882127" cy="51937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9601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069848"/>
            <a:ext cx="384048" cy="3474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0515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사용자가 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4173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총액과 3개 진입가·비중을 확인한다.</a:t>
            </a:r>
            <a:br/>
            <a:r>
              <a:t>2. 목표·손절을 검토하고 최종 확인을 누른다.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2670048"/>
            <a:ext cx="384048" cy="34747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6517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시스템이 해주는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0175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브로커 현금과 안전한도를 조회한다.</a:t>
            </a:r>
            <a:br/>
            <a:r>
              <a:t>2. 회차별 정수주 수량과 주문금액을 계산한다.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010912"/>
            <a:ext cx="3767328" cy="987552"/>
          </a:xfrm>
          <a:prstGeom prst="roundRect">
            <a:avLst/>
          </a:prstGeom>
          <a:solidFill>
            <a:srgbClr val="0C1727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102352"/>
            <a:ext cx="10972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Malgun Gothic"/>
              </a:defRPr>
            </a:pPr>
            <a:r>
              <a:t>처리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5367528"/>
            <a:ext cx="3401568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EBF2FB"/>
                </a:solidFill>
                <a:latin typeface="Malgun Gothic"/>
              </a:defRPr>
            </a:pPr>
            <a:r>
              <a:t>한 주기에 한 회차만 주문하는 계획이 만들어집니다.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617220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입력 → 시스템 처리 → 결과 상태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9728"/>
            <a:ext cx="685800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안전 최대금액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84632"/>
            <a:ext cx="676656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주문가능 현금과 투자 허용액의 구분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40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  <a:latin typeface="Malgun Gothic"/>
              </a:defRPr>
            </a:pPr>
            <a:r>
              <a:t>예시 데이터 · 실제 주문 없음</a:t>
            </a:r>
          </a:p>
        </p:txBody>
      </p:sp>
      <p:pic>
        <p:nvPicPr>
          <p:cNvPr id="6" name="Picture 5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04672"/>
            <a:ext cx="7882127" cy="51937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9601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069848"/>
            <a:ext cx="384048" cy="3474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0515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사용자가 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4173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제안금액을 확인하고 감액할 수 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2670048"/>
            <a:ext cx="384048" cy="34747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6517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시스템이 해주는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0175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현금·종목노출·포트폴리오·손절위험 중 최솟값을 제시한다.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010912"/>
            <a:ext cx="3767328" cy="987552"/>
          </a:xfrm>
          <a:prstGeom prst="roundRect">
            <a:avLst/>
          </a:prstGeom>
          <a:solidFill>
            <a:srgbClr val="0C1727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102352"/>
            <a:ext cx="10972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Malgun Gothic"/>
              </a:defRPr>
            </a:pPr>
            <a:r>
              <a:t>처리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5367528"/>
            <a:ext cx="3401568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EBF2FB"/>
                </a:solidFill>
                <a:latin typeface="Malgun Gothic"/>
              </a:defRPr>
            </a:pPr>
            <a:r>
              <a:t>안전 최대금액보다 증액할 수 없습니다.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617220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입력 → 시스템 처리 → 결과 상태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9728"/>
            <a:ext cx="685800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입력 검증과 실행 차단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84632"/>
            <a:ext cx="676656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오류가 남아 있으면 주문 준비 불가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40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  <a:latin typeface="Malgun Gothic"/>
              </a:defRPr>
            </a:pPr>
            <a:r>
              <a:t>예시 데이터 · 실제 주문 없음</a:t>
            </a:r>
          </a:p>
        </p:txBody>
      </p:sp>
      <p:pic>
        <p:nvPicPr>
          <p:cNvPr id="6" name="Picture 5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04672"/>
            <a:ext cx="7882127" cy="51937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9601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069848"/>
            <a:ext cx="384048" cy="3474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0515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사용자가 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4173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오류 메시지에 따라 값이나 운영설정을 수정한다.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2670048"/>
            <a:ext cx="384048" cy="34747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6517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시스템이 해주는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0175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가격순서·비중·호가·잔고·중복·게이트를 검증한다.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010912"/>
            <a:ext cx="3767328" cy="987552"/>
          </a:xfrm>
          <a:prstGeom prst="roundRect">
            <a:avLst/>
          </a:prstGeom>
          <a:solidFill>
            <a:srgbClr val="0C1727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102352"/>
            <a:ext cx="10972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Malgun Gothic"/>
              </a:defRPr>
            </a:pPr>
            <a:r>
              <a:t>처리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5367528"/>
            <a:ext cx="3401568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EBF2FB"/>
                </a:solidFill>
                <a:latin typeface="Malgun Gothic"/>
              </a:defRPr>
            </a:pPr>
            <a:r>
              <a:t>모든 오류가 해소될 때만 최종 확인이 활성화됩니다.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617220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입력 → 시스템 처리 → 결과 상태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9728"/>
            <a:ext cx="685800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REAL/PAPER 최종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84632"/>
            <a:ext cx="676656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계좌·금액·손절을 실행 직전 재확인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40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  <a:latin typeface="Malgun Gothic"/>
              </a:defRPr>
            </a:pPr>
            <a:r>
              <a:t>예시 데이터 · 실제 주문 없음</a:t>
            </a:r>
          </a:p>
        </p:txBody>
      </p:sp>
      <p:pic>
        <p:nvPicPr>
          <p:cNvPr id="6" name="Picture 5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04672"/>
            <a:ext cx="7882127" cy="51937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9601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069848"/>
            <a:ext cx="384048" cy="3474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0515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사용자가 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4173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계좌 모드와 최대금액을 확인한다.</a:t>
            </a:r>
            <a:br/>
            <a:r>
              <a:t>2. 매매 실행·즉시 무장을 누른다.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2670048"/>
            <a:ext cx="384048" cy="34747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6517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시스템이 해주는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0175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잔고와 안전 게이트를 다시 검증한다.</a:t>
            </a:r>
            <a:br/>
            <a:r>
              <a:t>2. 계획 저장과 ARMED 전환을 함께 처리한다.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010912"/>
            <a:ext cx="3767328" cy="987552"/>
          </a:xfrm>
          <a:prstGeom prst="roundRect">
            <a:avLst/>
          </a:prstGeom>
          <a:solidFill>
            <a:srgbClr val="0C1727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102352"/>
            <a:ext cx="10972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Malgun Gothic"/>
              </a:defRPr>
            </a:pPr>
            <a:r>
              <a:t>처리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5367528"/>
            <a:ext cx="3401568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EBF2FB"/>
                </a:solidFill>
                <a:latin typeface="Malgun Gothic"/>
              </a:defRPr>
            </a:pPr>
            <a:r>
              <a:t>주문을 즉시 보내지 않고 워치 감시를 시작합니다.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617220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입력 → 시스템 처리 → 결과 상태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9728"/>
            <a:ext cx="685800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즉시 무장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84632"/>
            <a:ext cx="676656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첫 자동매수 조건을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40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  <a:latin typeface="Malgun Gothic"/>
              </a:defRPr>
            </a:pPr>
            <a:r>
              <a:t>예시 데이터 · 실제 주문 없음</a:t>
            </a:r>
          </a:p>
        </p:txBody>
      </p:sp>
      <p:pic>
        <p:nvPicPr>
          <p:cNvPr id="6" name="Picture 5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04672"/>
            <a:ext cx="7882127" cy="51937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9601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069848"/>
            <a:ext cx="384048" cy="3474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0515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사용자가 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4173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다음 진입 조건과 만료일을 확인한다.</a:t>
            </a:r>
            <a:br/>
            <a:r>
              <a:t>2. 워치리스트로 이동한다.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2670048"/>
            <a:ext cx="384048" cy="34747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6517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시스템이 해주는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0175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60초마다 현재가를 조회해 조건 충족 시 지정가 주문한다.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010912"/>
            <a:ext cx="3767328" cy="987552"/>
          </a:xfrm>
          <a:prstGeom prst="roundRect">
            <a:avLst/>
          </a:prstGeom>
          <a:solidFill>
            <a:srgbClr val="0C1727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102352"/>
            <a:ext cx="10972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Malgun Gothic"/>
              </a:defRPr>
            </a:pPr>
            <a:r>
              <a:t>처리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5367528"/>
            <a:ext cx="3401568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EBF2FB"/>
                </a:solidFill>
                <a:latin typeface="Malgun Gothic"/>
              </a:defRPr>
            </a:pPr>
            <a:r>
              <a:t>ARMED 상태로 자동매수 감시가 시작됩니다.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617220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입력 → 시스템 처리 → 결과 상태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9728"/>
            <a:ext cx="685800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분석 워치리스트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84632"/>
            <a:ext cx="676656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진행률과 다음 조건을 한눈에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40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  <a:latin typeface="Malgun Gothic"/>
              </a:defRPr>
            </a:pPr>
            <a:r>
              <a:t>예시 데이터 · 실제 주문 없음</a:t>
            </a:r>
          </a:p>
        </p:txBody>
      </p:sp>
      <p:pic>
        <p:nvPicPr>
          <p:cNvPr id="6" name="Picture 5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04672"/>
            <a:ext cx="7882127" cy="51937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9601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069848"/>
            <a:ext cx="384048" cy="3474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0515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사용자가 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4173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체결 회차·다음 가격·보류 사유를 확인한다.</a:t>
            </a:r>
            <a:br/>
            <a:r>
              <a:t>2. 종목을 선택해 상세를 연다.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2670048"/>
            <a:ext cx="384048" cy="34747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6517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시스템이 해주는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0175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현재가·평균체결가·주문상태를 동기화한다.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010912"/>
            <a:ext cx="3767328" cy="987552"/>
          </a:xfrm>
          <a:prstGeom prst="roundRect">
            <a:avLst/>
          </a:prstGeom>
          <a:solidFill>
            <a:srgbClr val="0C1727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102352"/>
            <a:ext cx="10972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Malgun Gothic"/>
              </a:defRPr>
            </a:pPr>
            <a:r>
              <a:t>처리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5367528"/>
            <a:ext cx="3401568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EBF2FB"/>
                </a:solidFill>
                <a:latin typeface="Malgun Gothic"/>
              </a:defRPr>
            </a:pPr>
            <a:r>
              <a:t>단일/분할과 0/3~3/3 진행상태를 표시합니다.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617220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입력 → 시스템 처리 → 결과 상태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9728"/>
            <a:ext cx="685800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분할 회차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84632"/>
            <a:ext cx="676656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부분체결과 남은 매수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40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  <a:latin typeface="Malgun Gothic"/>
              </a:defRPr>
            </a:pPr>
            <a:r>
              <a:t>예시 데이터 · 실제 주문 없음</a:t>
            </a:r>
          </a:p>
        </p:txBody>
      </p:sp>
      <p:pic>
        <p:nvPicPr>
          <p:cNvPr id="6" name="Picture 5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04672"/>
            <a:ext cx="7882127" cy="51937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9601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069848"/>
            <a:ext cx="384048" cy="3474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0515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사용자가 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4173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회차별 체결과 잔량을 확인한다.</a:t>
            </a:r>
            <a:br/>
            <a:r>
              <a:t>2. 필요하면 남은 매수를 중단한다.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2670048"/>
            <a:ext cx="384048" cy="34747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6517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시스템이 해주는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0175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직전 회차 체결 후 다음 회차만 허용한다.</a:t>
            </a:r>
            <a:br/>
            <a:r>
              <a:t>2. 부분체결 잔량만 재주문하고 보유분 청산은 계속 감시한다.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010912"/>
            <a:ext cx="3767328" cy="987552"/>
          </a:xfrm>
          <a:prstGeom prst="roundRect">
            <a:avLst/>
          </a:prstGeom>
          <a:solidFill>
            <a:srgbClr val="0C1727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102352"/>
            <a:ext cx="10972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Malgun Gothic"/>
              </a:defRPr>
            </a:pPr>
            <a:r>
              <a:t>처리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5367528"/>
            <a:ext cx="3401568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EBF2FB"/>
                </a:solidFill>
                <a:latin typeface="Malgun Gothic"/>
              </a:defRPr>
            </a:pPr>
            <a:r>
              <a:t>추가매수와 기존 보유분 청산 관리가 분리됩니다.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617220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입력 → 시스템 처리 → 결과 상태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9728"/>
            <a:ext cx="685800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모바일 워치리스트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84632"/>
            <a:ext cx="676656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웹 전략의 진행상태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40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  <a:latin typeface="Malgun Gothic"/>
              </a:defRPr>
            </a:pPr>
            <a:r>
              <a:t>예시 데이터 · 실제 주문 없음</a:t>
            </a:r>
          </a:p>
        </p:txBody>
      </p:sp>
      <p:pic>
        <p:nvPicPr>
          <p:cNvPr id="6" name="Picture 5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04672"/>
            <a:ext cx="7882127" cy="51937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9601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069848"/>
            <a:ext cx="384048" cy="3474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0515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사용자가 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4173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진행률과 다음 가격을 확인한다.</a:t>
            </a:r>
            <a:br/>
            <a:r>
              <a:t>2. 필요하면 남은 매수를 중단한다.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2670048"/>
            <a:ext cx="384048" cy="34747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6517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시스템이 해주는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0175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웹과 같은 회차·체결·보류 정보를 제공한다.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010912"/>
            <a:ext cx="3767328" cy="987552"/>
          </a:xfrm>
          <a:prstGeom prst="roundRect">
            <a:avLst/>
          </a:prstGeom>
          <a:solidFill>
            <a:srgbClr val="0C1727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102352"/>
            <a:ext cx="10972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Malgun Gothic"/>
              </a:defRPr>
            </a:pPr>
            <a:r>
              <a:t>처리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5367528"/>
            <a:ext cx="3401568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EBF2FB"/>
                </a:solidFill>
                <a:latin typeface="Malgun Gothic"/>
              </a:defRPr>
            </a:pPr>
            <a:r>
              <a:t>모바일은 조회·중단, 새 전략 설정은 웹에서 수행합니다.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617220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입력 → 시스템 처리 → 결과 상태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5029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09728"/>
            <a:ext cx="6858000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2200" b="1">
                <a:solidFill>
                  <a:srgbClr val="EBF2FB"/>
                </a:solidFill>
                <a:latin typeface="Malgun Gothic"/>
              </a:defRPr>
            </a:pPr>
            <a:r>
              <a:t>상태 흐름과 검수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84632"/>
            <a:ext cx="676656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ARMED → BOUGHT → CLOSED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4028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>
              <a:defRPr sz="900" b="1">
                <a:solidFill>
                  <a:srgbClr val="F59E0B"/>
                </a:solidFill>
                <a:latin typeface="Malgun Gothic"/>
              </a:defRPr>
            </a:pPr>
            <a:r>
              <a:t>예시 데이터 · 실제 주문 없음</a:t>
            </a:r>
          </a:p>
        </p:txBody>
      </p:sp>
      <p:pic>
        <p:nvPicPr>
          <p:cNvPr id="6" name="Picture 5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04672"/>
            <a:ext cx="7882127" cy="51937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9601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069848"/>
            <a:ext cx="384048" cy="3474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0515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사용자가 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4173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각 상태의 의미와 가능한 행동을 확인한다.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560320"/>
            <a:ext cx="3767328" cy="1389888"/>
          </a:xfrm>
          <a:prstGeom prst="roundRect">
            <a:avLst/>
          </a:prstGeom>
          <a:solidFill>
            <a:srgbClr val="101D30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2670048"/>
            <a:ext cx="384048" cy="34747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EBF2FB"/>
                </a:solidFill>
                <a:latin typeface="Malgun Gothic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651760"/>
            <a:ext cx="297180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200" b="1">
                <a:solidFill>
                  <a:srgbClr val="EBF2FB"/>
                </a:solidFill>
                <a:latin typeface="Malgun Gothic"/>
              </a:defRPr>
            </a:pPr>
            <a:r>
              <a:t>시스템이 해주는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017520"/>
            <a:ext cx="3401568" cy="85953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1. 만료는 신규매수만 막고 BOUGHT 청산은 계속 감시한다.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010912"/>
            <a:ext cx="3767328" cy="987552"/>
          </a:xfrm>
          <a:prstGeom prst="roundRect">
            <a:avLst/>
          </a:prstGeom>
          <a:solidFill>
            <a:srgbClr val="0C1727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102352"/>
            <a:ext cx="10972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Malgun Gothic"/>
              </a:defRPr>
            </a:pPr>
            <a:r>
              <a:t>처리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5367528"/>
            <a:ext cx="3401568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EBF2FB"/>
                </a:solidFill>
                <a:latin typeface="Malgun Gothic"/>
              </a:defRPr>
            </a:pPr>
            <a:r>
              <a:t>신규 진입 차단이 보유분 청산 중단으로 이어지지 않습니다.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6172200"/>
            <a:ext cx="274320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defRPr sz="900" b="0">
                <a:solidFill>
                  <a:srgbClr val="97A6BB"/>
                </a:solidFill>
                <a:latin typeface="Malgun Gothic"/>
              </a:defRPr>
            </a:pPr>
            <a:r>
              <a:t>입력 → 시스템 처리 → 결과 상태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